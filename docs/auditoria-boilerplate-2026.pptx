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8C9EC"/>
                </a:solidFill>
                <a:latin typeface="Calibri"/>
              </a:rPr>
              <a:t>AUDITORÍA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Boilerplate WordPress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BE3F2"/>
                </a:solidFill>
                <a:latin typeface="Calibri"/>
              </a:rPr>
              <a:t>Análisis de escalabilidad, performance, SEO y accesibilidad
para proyectos derivados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97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9 de mayo de 2026  ·  Auditores: Frontend Lead · UI Senior · SEO Manager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005840"/>
            <a:ext cx="850392" cy="201168"/>
          </a:xfrm>
          <a:prstGeom prst="rect">
            <a:avLst/>
          </a:prstGeom>
          <a:solidFill>
            <a:srgbClr val="0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37776" y="1024128"/>
            <a:ext cx="813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280160"/>
            <a:ext cx="61722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37776" y="1298448"/>
            <a:ext cx="5806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UI/UX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554480"/>
            <a:ext cx="461772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37776" y="1572768"/>
            <a:ext cx="425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Resumen Ejecutivo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9EC"/>
                </a:solidFill>
                <a:latin typeface="Calibri"/>
              </a:rPr>
              <a:t>Estado actual de la plantilla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La plantilla tiene un buen patrón base de módulos ACF con Webpack 5 + SASS. Sin embargo, acumula deuda técnica en tres áreas que deben resolverse ANTES de derivar cualquier proyecto de cliente.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3749039" cy="4434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3749039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751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🔒 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XSS en múltiples módulos 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Código de ejemplo en producción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Assets sin sanitizar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URL de cliente anterior en 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920240"/>
            <a:ext cx="3749039" cy="4434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920240"/>
            <a:ext cx="3749039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9751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⚡  Performance / SEO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514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Build en modo desarrollo (416 KB)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Scripts bloqueando el 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Imágenes LCP como CSS background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Sin metadatos SEO básicos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1920240"/>
            <a:ext cx="3749039" cy="4434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0456" y="1920240"/>
            <a:ext cx="3749039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19751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♿  Accesibilidad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2514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Focus eliminado globalmente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Hamburger sin semántica ARIA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HTML inválido en 404.php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• Imágenes sin atributo alt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446520"/>
            <a:ext cx="11548872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6480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98"/>
                </a:solidFill>
                <a:latin typeface="Calibri"/>
              </a:rPr>
              <a:t>✓  Los hallazgos críticos y la mayoría de los importantes son de ESFUERZO BAJO — solucionables en 1 semana.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Hallazgos en Números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51760" cy="2194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Críticos
(P0)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80160"/>
            <a:ext cx="2651760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173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Importantes
(P1/P2)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2651760" cy="219456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Mejoras
(P3)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280160"/>
            <a:ext cx="2651760" cy="2194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4173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Total
hallazgos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Distribución por área de impacto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14800"/>
            <a:ext cx="3584448" cy="347472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51376"/>
            <a:ext cx="3675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4169663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14 hallazgos  ·  C1, C2, C3, C4, C5 · I5, I6, I7, I11, I12, I13, I14, I15, I16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36592"/>
            <a:ext cx="3072384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773168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UI / Accesibilidad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4791455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12 hallazgos  ·  C8, C9, C10 · I3, I4, I8, I17, I18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58384"/>
            <a:ext cx="2816352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394960"/>
            <a:ext cx="2907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SEO /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9272" y="54132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11 hallazgos  ·  C4, C5, C6, C7 · I1, I2, I9, I10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980176"/>
            <a:ext cx="1536192" cy="34747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016752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  Transversal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9112" y="6035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6 hallazgos  ·  I13, I14 · O1–O15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Hallazgos Críticos (P0) — Resolver antes de cualquier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0584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Hallazgo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005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Área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10058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Esfuerzo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71600"/>
            <a:ext cx="11823192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371600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46304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XSS — Outputs sin escapar en módulos PHP y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463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Frontend/SEO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463040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25328" y="1481328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94636"/>
            <a:ext cx="118231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1894636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9860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1986076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Código de ejemplo hardcodeado en hero.php (URL externa + &lt;script&gt;)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9860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Frontend/UI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1986076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25328" y="2004364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417673"/>
            <a:ext cx="11823192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2417673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509113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509113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URL de cliente anterior hardcodeada en menuMobile.js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509113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Frontend/SEO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0" y="2509113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25328" y="2527401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940710"/>
            <a:ext cx="118231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" y="2940710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303215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03215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Build en modo desarrollo — main.js con eval-source-map, 416 KB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03215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Performance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07040" y="3032150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25328" y="3050438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463747"/>
            <a:ext cx="11823192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3463747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" y="355518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555187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Scripts en &lt;head&gt; bloqueando render (AOS, Colorbox, main.js)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355518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Performance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07040" y="3555187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25328" y="3573475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3986783"/>
            <a:ext cx="118231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3986783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1168" y="4078223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078223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Sin meta description, canonical, Open Graph ni Twitter Cards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078223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SEO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07040" y="4078223"/>
            <a:ext cx="11887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25328" y="4096511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4509820"/>
            <a:ext cx="11823192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2880" y="4509820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1168" y="46012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60126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Imagen LCP como CSS background — invisible al preload scanner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46012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SEO/Performance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07040" y="4601260"/>
            <a:ext cx="11887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25328" y="4619548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" y="5032857"/>
            <a:ext cx="118231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2880" y="5032857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1168" y="512429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5124297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* { outline: 0px } elimina focus en todo el sitio — viola WCAG AA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512429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Accesibilidad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07040" y="5124297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25328" y="5142585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5555894"/>
            <a:ext cx="11823192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82880" y="5555894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1168" y="564733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" y="564733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Hamburger menu sin &lt;button&gt;, aria-label ni aria-expanded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0" y="564733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Accesibilidad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07040" y="5647334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25328" y="5665622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880" y="6078931"/>
            <a:ext cx="118231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" y="6078931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1168" y="617037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6170371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HTML inválido en 404.php — &lt;body&gt; duplicado + &lt;h2&gt; cierra como &lt;/h1&gt;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95360" y="617037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Frontend/UI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607040" y="6170371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625328" y="6188659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Hallazgos Importantes (P1/P2) — Top 10 seleccionados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1182319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0584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Hallazgo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0058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Área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10058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Esfuerzo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71600"/>
            <a:ext cx="11823192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371600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46304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Google Fonts bloqueante sin preconnect — 8 pesos cargados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463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463040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25328" y="1481328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94636"/>
            <a:ext cx="118231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1894636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9860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1986076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data-aos en el H1 oculta con opacity:0 → eleva LCP directo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9860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SEO/Performance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1986076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25328" y="2004364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417673"/>
            <a:ext cx="11823192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2417673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509113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509113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Imágenes sin width/height — CLS al cargar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509113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SEO/UI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0" y="2509113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25328" y="2527401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940710"/>
            <a:ext cx="118231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" y="2940710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303215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03215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alt faltante en logos e imágenes de fondo — WCAG 1.1.1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03215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SEO/UI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07040" y="3032150"/>
            <a:ext cx="11887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25328" y="3050438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463747"/>
            <a:ext cx="11823192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3463747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" y="355518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555187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Owl Carousel duplicado en bundle + 2 CSS sueltos, global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355518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Frontend/Perf.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07040" y="3555187"/>
            <a:ext cx="11887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25328" y="3573475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3986783"/>
            <a:ext cx="118231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3986783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1168" y="4078223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078223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Bugs funcionales en JS: threshold, .attr('value'), modals scope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078223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Frontend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07040" y="4078223"/>
            <a:ext cx="11887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25328" y="4096511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4509820"/>
            <a:ext cx="11823192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2880" y="4509820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1168" y="46012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60126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Sin CSS Custom Properties — 15+ tamaños de fuente hardcodeados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46012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UI/Design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07040" y="4601260"/>
            <a:ext cx="11887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25328" y="4619548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" y="5032857"/>
            <a:ext cx="118231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2880" y="5032857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1168" y="512429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5124297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Sin Schema.org — cero JSON-LD en ningún template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512429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SEO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07040" y="5124297"/>
            <a:ext cx="118872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25328" y="5142585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5555894"/>
            <a:ext cx="11823192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82880" y="5555894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1168" y="564733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" y="5647334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AOS, Owl y Colorbox se cargan en todas las páginas sin condición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0" y="564733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Performance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07040" y="5647334"/>
            <a:ext cx="11887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25328" y="5665622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880" y="6078931"/>
            <a:ext cx="118231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" y="6078931"/>
            <a:ext cx="502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1168" y="617037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6170371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npm con 6 major versions desactualizadas (sass-loader, webpack-cli…)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95360" y="617037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Frontend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607040" y="6170371"/>
            <a:ext cx="11887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625328" y="6188659"/>
            <a:ext cx="1152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Impacto en Core Web Vitals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126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C9EC"/>
                </a:solidFill>
                <a:latin typeface="Calibri"/>
              </a:rPr>
              <a:t>Estimación antes y después de implementar P0 + P1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3657600" cy="50292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6128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8C9EC"/>
                </a:solidFill>
                <a:latin typeface="Calibri"/>
              </a:rPr>
              <a:t>Largest Contentful Paint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3657600" cy="438912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276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  <a:latin typeface="Calibri"/>
              </a:rPr>
              <a:t>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Calibri"/>
              </a:rPr>
              <a:t>❌  &gt; 4.0s  POBRE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84831"/>
            <a:ext cx="365760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1226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6A34A"/>
                </a:solidFill>
                <a:latin typeface="Calibri"/>
              </a:rPr>
              <a:t>DESPUÉS DE P0+P1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2677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✅  ~2.0-2.5s  BUENO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69464"/>
            <a:ext cx="3657600" cy="27432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9689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Mejora: -60% a -70%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Causas principales: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272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Build en modo dev (C4)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Scripts en &lt;head&gt; (C5)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82219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Imagen LCP como CSS bg (C7)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696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Google Fonts bloqueante (I1)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720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98"/>
                </a:solidFill>
                <a:latin typeface="Calibri"/>
              </a:rPr>
              <a:t>Fix: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77316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Scripts al footer + &lt;img&gt; con fetchpriority
+ preconnect fuentes + build prod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897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Umbral bueno: ≤ 2.5s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1051560"/>
            <a:ext cx="3657600" cy="50292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399" y="1097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116128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8C9EC"/>
                </a:solidFill>
                <a:latin typeface="Calibri"/>
              </a:rPr>
              <a:t>Cumulative Layout Shift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1600200"/>
            <a:ext cx="3657600" cy="43891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16276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706"/>
                </a:solidFill>
                <a:latin typeface="Calibri"/>
              </a:rPr>
              <a:t>ACTUAL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1783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⚠️  0.1-0.25  NECESITA MEJORA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2084831"/>
            <a:ext cx="365760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399" y="211226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6A34A"/>
                </a:solidFill>
                <a:latin typeface="Calibri"/>
              </a:rPr>
              <a:t>DESPUÉS DE P0+P1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399" y="22677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✅  &lt; 0.1  BUENO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2569464"/>
            <a:ext cx="3657600" cy="27432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399" y="259689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Mejora: Reducción a &lt; 0.1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Causas principales: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399" y="31272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Imágenes sin width/height (I3)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399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AOS con transform en H1 (I2)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399" y="382219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Fuentes sin preconnect (I1)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399" y="45720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98"/>
                </a:solidFill>
                <a:latin typeface="Calibri"/>
              </a:rPr>
              <a:t>Fix: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399" y="477316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Width/height en imágenes + quitar
data-aos del H1 + preconnect fuentes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399" y="5897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Umbral bueno: ≤ 0.1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1051560"/>
            <a:ext cx="3657600" cy="50292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1097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116128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8C9EC"/>
                </a:solidFill>
                <a:latin typeface="Calibri"/>
              </a:rPr>
              <a:t>Interaction to Next Paint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1600200"/>
            <a:ext cx="3657600" cy="43891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16276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97706"/>
                </a:solidFill>
                <a:latin typeface="Calibri"/>
              </a:rPr>
              <a:t>ACTUAL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1783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⚠️  En riesgo (build dev)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2084831"/>
            <a:ext cx="365760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211226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6A34A"/>
                </a:solidFill>
                <a:latin typeface="Calibri"/>
              </a:rPr>
              <a:t>DESPUÉS DE P0+P1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2677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Calibri"/>
              </a:rPr>
              <a:t>✅  &lt; 200ms  BUENO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2569464"/>
            <a:ext cx="3657600" cy="27432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259689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Mejora: Reducción a &lt; 200ms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926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Causas principales: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1272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Bundle con eval() en dev (C4)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jQuery + Owl global (I5, I10)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82219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• Scripts bloqueando main thread (C5)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457200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98"/>
                </a:solidFill>
                <a:latin typeface="Calibri"/>
              </a:rPr>
              <a:t>Fix: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477316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Build producción + scripts al footer
+ carga condicional de assets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5897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Umbral bueno: &lt; 200ms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Plan de Acción — Roadmap de Mejoras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2788920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278892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24128"/>
            <a:ext cx="2606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Semana 1
Seguridad + Accesibilidad + 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1783080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7373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Escapar todos los outputs PHP (XSS)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2304287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225856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Eliminar código de ejemplo en hero.php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825496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77977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Reemplazar URL hardcodeada en 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3346703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" y="330098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Scripts al footer (render-blocking)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" y="3867911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3822191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Focus visible con :focus-visible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4389120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43434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Hamburger → &lt;button&gt; con ARIA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4910328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" y="486460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Corregir HTML inválido en 404.php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5431536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538581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alt + width/height en imágenes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5952743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5907023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Bugs JS: threshold, .val(), modals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1005840"/>
            <a:ext cx="2788920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18688" y="1005840"/>
            <a:ext cx="2788920" cy="6583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1024128"/>
            <a:ext cx="2606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Semana 2
SEO Foundation + Performance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28416" y="1783080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17373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inc/seo.php: canonical, meta, 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28416" y="2304287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2" y="225856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Twitter Cards dinámicas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28416" y="2825496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7872" y="277977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Hero → &lt;img&gt; + fetchpriority=high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28416" y="3346703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7872" y="330098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Preconnect a Google Fonts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28416" y="3867911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47872" y="3822191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Reducir pesos de fuentes cargadas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28416" y="4389120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47872" y="43434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inc/schema.php: JSON-LD base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28416" y="4910328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47872" y="486460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Assets condicionales (Owl, AOS)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28416" y="5431536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47872" y="538581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npm run prod en CI obligatorio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08776" y="1005840"/>
            <a:ext cx="2788920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8776" y="1005840"/>
            <a:ext cx="2788920" cy="658368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0216" y="1024128"/>
            <a:ext cx="2606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Sprint 3
Design System + Módulos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18504" y="1783080"/>
            <a:ext cx="164592" cy="164592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17373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CSS Custom Properties (_tokens.scss)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18504" y="2304287"/>
            <a:ext cx="164592" cy="164592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225856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Escala tipográfica con clamp()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18504" y="2825496"/>
            <a:ext cx="164592" cy="164592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277977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Refactor SASS → Atomic Design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18504" y="3346703"/>
            <a:ext cx="164592" cy="164592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330098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template-parts: button, card, image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18504" y="3867911"/>
            <a:ext cx="164592" cy="164592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3822191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Modal accesible con focus trap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18504" y="4389120"/>
            <a:ext cx="164592" cy="164592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43434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Módulo blog + validación helpers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18504" y="4910328"/>
            <a:ext cx="164592" cy="164592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60" y="486460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8-10 módulos ACF base nuevos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98864" y="1005840"/>
            <a:ext cx="2788920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98864" y="1005840"/>
            <a:ext cx="2788920" cy="65836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90304" y="1024128"/>
            <a:ext cx="2606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v2.0
Modernización del Stack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08592" y="1783080"/>
            <a:ext cx="164592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28048" y="17373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Webpack → Vite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08592" y="2304287"/>
            <a:ext cx="164592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28048" y="225856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SASS → Tailwind CSS v4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08592" y="2825496"/>
            <a:ext cx="164592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28048" y="277977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Owl → Swiper.js o Embla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08592" y="3346703"/>
            <a:ext cx="164592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28048" y="330098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jQuery → Vanilla JS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08592" y="3867911"/>
            <a:ext cx="164592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528048" y="3822191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Documentación y guía de uso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Oportunidades de Mejora (P3) — Visión de Escalabilidad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2788920" cy="5623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2788920" cy="41148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0881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Design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157276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66420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CSS Custom Properties como
capa de tokens de diseño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276148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85292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Escala tipográfica fluid con
clamp() — 6 tamaños estándar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95020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404164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Refactor SASS → Atoms /
Molecules / Organisms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513892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523036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template-parts PHP reutilizables
(button, card, image, breadcrumb)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1051560"/>
            <a:ext cx="2788920" cy="5623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18688" y="1051560"/>
            <a:ext cx="2788920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8416" y="10881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SEO Avanzado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8416" y="157276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9856" y="166420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Schema.org completo: Organization,
Article, BreadcrumbList, FAQ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8416" y="276148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285292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Robots.txt + sitemap XML
como parte del boilerplate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28416" y="395020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404164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Open Graph + Twitter Cards
sin dependencia de plugin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28416" y="513892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9856" y="523036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Performance: carga condicional
de assets por template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1051560"/>
            <a:ext cx="2788920" cy="5623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8776" y="1051560"/>
            <a:ext cx="278892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10881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Módulos ACF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8504" y="157276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166420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Ampliar de 3 a 13 módulos base
(CTA, testimonios, cards, acordeón)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8504" y="276148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9944" y="285292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Estadísticas, equipo, galería,
formulario de contacto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8504" y="395020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9944" y="404164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Validación de existencia de
módulo en helpers.php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18504" y="513892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523036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CSS por módulo en su carpeta
(/modules/nombre/nombre.css)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98864" y="1051560"/>
            <a:ext cx="2788920" cy="5623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98864" y="1051560"/>
            <a:ext cx="2788920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08592" y="108813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Modernización v2.0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08592" y="157276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0032" y="166420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Webpack → Vite (HMR nativo,
arranque &lt;1s, config -70%)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08592" y="276148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285292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SASS → Tailwind CSS v4
(zero-runtime, CSS Variables)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08592" y="395020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0032" y="404164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Owl Carousel → Swiper.js
o Embla (mantenidos, modernos)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08592" y="5138928"/>
            <a:ext cx="2578608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5230368"/>
            <a:ext cx="239572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jQuery → Vanilla JS
por módulos progresivamente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Stack Actual vs. Stack Objetivo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539496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42415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Stack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42415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005840"/>
            <a:ext cx="539496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042415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Stack Objetivo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508760"/>
            <a:ext cx="539496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508760"/>
            <a:ext cx="5394960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508760"/>
            <a:ext cx="128016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600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Build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16002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Webpack 5 + BrowserSync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60020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600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Calibri"/>
              </a:rPr>
              <a:t>Vite + vite-plugin-full-reload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031796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2031796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031796"/>
            <a:ext cx="128016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1232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2123236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SASS puro (arquitectura manual)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123236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12323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Calibri"/>
              </a:rPr>
              <a:t>SASS con tokens + Tailwind CSS v4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554833"/>
            <a:ext cx="539496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2554833"/>
            <a:ext cx="5394960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2554833"/>
            <a:ext cx="128016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646273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2646273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jQuery 3.x (global)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2646273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646273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Calibri"/>
              </a:rPr>
              <a:t>Vanilla JS / ES Modules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077870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3077870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3077870"/>
            <a:ext cx="128016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16931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Animaciones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316931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AOS.js (CSS classes on scroll)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316931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16931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Calibri"/>
              </a:rPr>
              <a:t>GSAP + ScrollTrigger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600907"/>
            <a:ext cx="539496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3600907"/>
            <a:ext cx="5394960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" y="3600907"/>
            <a:ext cx="128016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369234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Carrusel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72768" y="3692347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Owl Carousel (abandonado 2018)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3692347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69234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Calibri"/>
              </a:rPr>
              <a:t>Swiper.js o Embla Carousel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123944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46520" y="4123944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" y="4123944"/>
            <a:ext cx="128016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4215383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Fonts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72768" y="4215383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Google Fonts bloqueante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4215383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4215383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Calibri"/>
              </a:rPr>
              <a:t>Self-hosted + font-display: swap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4646980"/>
            <a:ext cx="539496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46520" y="4646980"/>
            <a:ext cx="5394960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8600" y="4646980"/>
            <a:ext cx="128016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7384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SEO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72768" y="473842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Sin metadatos, sin structured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5000" y="47384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47384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Calibri"/>
              </a:rPr>
              <a:t>inc/seo.php + inc/schema.php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5170017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46520" y="5170017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28600" y="5170017"/>
            <a:ext cx="128016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526145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Módulos ACF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72768" y="5261457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3 layouts básicos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15000" y="5261457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26145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Calibri"/>
              </a:rPr>
              <a:t>13+ layouts base estándar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5693054"/>
            <a:ext cx="5394960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46520" y="5693054"/>
            <a:ext cx="5394960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8600" y="5693054"/>
            <a:ext cx="128016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578449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Design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72768" y="5784494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Variables SASS privadas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15000" y="5784494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37960" y="578449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Calibri"/>
              </a:rPr>
              <a:t>CSS Custom Properties + Atomic Design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6216091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46520" y="6216091"/>
            <a:ext cx="5394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8600" y="6216091"/>
            <a:ext cx="128016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6307531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Accesibilidad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72768" y="6307531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  <a:latin typeface="Calibri"/>
              </a:rPr>
              <a:t>outline:0 global, sin ARIA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15000" y="6307531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7960" y="630753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Calibri"/>
              </a:rPr>
              <a:t>WCAG 2.1 AA completo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2743200" cy="36576"/>
          </a:xfrm>
          <a:prstGeom prst="rect">
            <a:avLst/>
          </a:prstGeom>
          <a:solidFill>
            <a:srgbClr val="98C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BE3F2"/>
                </a:solidFill>
                <a:latin typeface="Calibri"/>
              </a:rPr>
              <a:t>La plantilla está lista para ser la base sólida de múltiples proyectos
en cuanto se resuelvan los P0 y P1.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2697480" cy="2240280"/>
          </a:xfrm>
          <a:prstGeom prst="rect">
            <a:avLst/>
          </a:prstGeom>
          <a:solidFill>
            <a:srgbClr val="05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269748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843784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712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Esta semana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73552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3F2"/>
                </a:solidFill>
                <a:latin typeface="Calibri"/>
              </a:rPr>
              <a:t>Resolver todos los C1–C10 y fixes P1 de esfuerzo bajo
(seguridad, accesibilidad, HTML, render-blocking)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834640"/>
            <a:ext cx="2697480" cy="2240280"/>
          </a:xfrm>
          <a:prstGeom prst="rect">
            <a:avLst/>
          </a:prstGeom>
          <a:solidFill>
            <a:srgbClr val="05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834640"/>
            <a:ext cx="2697480" cy="365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2843784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8712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Próxima semana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273552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3F2"/>
                </a:solidFill>
                <a:latin typeface="Calibri"/>
              </a:rPr>
              <a:t>Implementar inc/seo.php + inc/schema.php,
migrar imágenes LCP a &lt;img&gt;, assets condicionales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2697480" cy="2240280"/>
          </a:xfrm>
          <a:prstGeom prst="rect">
            <a:avLst/>
          </a:prstGeom>
          <a:solidFill>
            <a:srgbClr val="05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2697480" cy="365760"/>
          </a:xfrm>
          <a:prstGeom prst="rect">
            <a:avLst/>
          </a:prstGeom>
          <a:solidFill>
            <a:srgbClr val="06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843784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8712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Sprint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73552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3F2"/>
                </a:solidFill>
                <a:latin typeface="Calibri"/>
              </a:rPr>
              <a:t>Design system con tokens, módulos ACF expandidos,
modal accesible, Atomic Design SASS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834640"/>
            <a:ext cx="2697480" cy="2240280"/>
          </a:xfrm>
          <a:prstGeom prst="rect">
            <a:avLst/>
          </a:prstGeom>
          <a:solidFill>
            <a:srgbClr val="05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2834640"/>
            <a:ext cx="269748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2843784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8712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v2.0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273552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3F2"/>
                </a:solidFill>
                <a:latin typeface="Calibri"/>
              </a:rPr>
              <a:t>Vite, Tailwind CSS v4, Swiper, Vanilla JS y documentación
del boilerplate para todo el equipo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Boilerplate WordPress · Auditoría técnica 2026 · Frontend Lead · UI Senior · SEO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docs/auditoria-boilerplate-2026.md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